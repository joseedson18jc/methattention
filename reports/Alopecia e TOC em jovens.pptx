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7f7bd49-3757-3c8c-1abe-1d2874597caf}">
          <p14:sldIdLst>
            <p14:sldId id="256"/>
            <p14:sldId id="257"/>
          </p14:sldIdLst>
        </p14:section>
        <p14:section name="Calvície aos 30" id="{1e84853f-2781-5be6-c320-ce15315059c7}">
          <p14:sldIdLst>
            <p14:sldId id="258"/>
            <p14:sldId id="259"/>
            <p14:sldId id="260"/>
            <p14:sldId id="261"/>
          </p14:sldIdLst>
        </p14:section>
        <p14:section name="O gesto" id="{effcce46-d06e-0fd8-ad00-c9d5a24afc29}">
          <p14:sldIdLst>
            <p14:sldId id="262"/>
            <p14:sldId id="263"/>
            <p14:sldId id="264"/>
            <p14:sldId id="265"/>
          </p14:sldIdLst>
        </p14:section>
        <p14:section name="Saúde mental" id="{d761eff4-288b-50f9-2fed-93cd00f2838f}">
          <p14:sldIdLst>
            <p14:sldId id="266"/>
            <p14:sldId id="267"/>
            <p14:sldId id="268"/>
          </p14:sldIdLst>
        </p14:section>
        <p14:section name="Tratamento" id="{6917d02c-f225-d620-6ece-40882b8453c4}">
          <p14:sldIdLst>
            <p14:sldId id="269"/>
            <p14:sldId id="270"/>
            <p14:sldId id="271"/>
            <p14:sldId id="272"/>
          </p14:sldIdLst>
        </p14:section>
        <p14:section name="Finasterida" id="{8d5a01a1-efbf-8484-9543-7ae140544af3}">
          <p14:sldIdLst>
            <p14:sldId id="273"/>
            <p14:sldId id="274"/>
          </p14:sldIdLst>
        </p14:section>
        <p14:section name="Como ajudar" id="{c2ba0306-ff64-a4ab-f701-11c40d02081f}">
          <p14:sldIdLst>
            <p14:sldId id="275"/>
            <p14:sldId id="276"/>
          </p14:sldIdLst>
        </p14:section>
        <p14:section name="Conclusão" id="{1644b219-e552-f241-ca70-d5fa3eef5d3d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Prevalência de AGA (%)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7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Hamilton: caucasianos aos 30</c:v>
                  </c:pt>
                  <c:pt idx="1">
                    <c:v>Turquia: homens adultos</c:v>
                  </c:pt>
                  <c:pt idx="2">
                    <c:v>Nigéria: 18–29 anos</c:v>
                  </c:pt>
                  <c:pt idx="3">
                    <c:v>Nigéria: 30–39 anos</c:v>
                  </c:pt>
                  <c:pt idx="4">
                    <c:v>Índia: 30–50 anos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47.6</c:v>
                </c:pt>
                <c:pt idx="2">
                  <c:v>50.4</c:v>
                </c:pt>
                <c:pt idx="3">
                  <c:v>54.4</c:v>
                </c:pt>
                <c:pt idx="4">
                  <c:v>58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517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9525" cap="flat">
              <a:solidFill>
                <a:srgbClr val="E3E5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Prevalência de TDC (%)</c:v>
                </c:pt>
              </c:strCache>
            </c:strRef>
          </c:tx>
          <c:spPr>
            <a:solidFill>
              <a:srgbClr val="7A80A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7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0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A5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População geral</c:v>
                  </c:pt>
                  <c:pt idx="1">
                    <c:v>Pacientes de dermatologia</c:v>
                  </c:pt>
                  <c:pt idx="2">
                    <c:v>Pacientes de cirurgia plástica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12.65</c:v>
                </c:pt>
                <c:pt idx="2">
                  <c:v>15.04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517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9525" cap="flat">
              <a:solidFill>
                <a:srgbClr val="E3E5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SMD vs. controles</c:v>
                </c:pt>
              </c:strCache>
            </c:strRef>
          </c:tx>
          <c:spPr>
            <a:solidFill>
              <a:srgbClr val="FF7A5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7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A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9BF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Estresse percebido</c:v>
                  </c:pt>
                  <c:pt idx="1">
                    <c:v>Ansiedade social</c:v>
                  </c:pt>
                  <c:pt idx="2">
                    <c:v>Sintomas depressivos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1.09</c:v>
                </c:pt>
                <c:pt idx="1">
                  <c:v>0.5</c:v>
                </c:pt>
                <c:pt idx="2">
                  <c:v>0.38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517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b"/>
        <c:majorGridlines>
          <c:spPr>
            <a:ln w="9525" cap="flat">
              <a:solidFill>
                <a:srgbClr val="E3E5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|SMD|</c:v>
                </c:pt>
              </c:strCache>
            </c:strRef>
          </c:tx>
          <c:spPr>
            <a:solidFill>
              <a:srgbClr val="7A80A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7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0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0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0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Clomipramina</c:v>
                  </c:pt>
                  <c:pt idx="1">
                    <c:v>N-acetilcisteína</c:v>
                  </c:pt>
                  <c:pt idx="2">
                    <c:v>Olanzapina</c:v>
                  </c:pt>
                  <c:pt idx="3">
                    <c:v>Reversão de hábito (HRT)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</c:v>
                </c:pt>
                <c:pt idx="1">
                  <c:v>0.75</c:v>
                </c:pt>
                <c:pt idx="2">
                  <c:v>0.94</c:v>
                </c:pt>
                <c:pt idx="3">
                  <c:v>1.22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517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b"/>
        <c:majorGridlines>
          <c:spPr>
            <a:ln w="9525" cap="flat">
              <a:solidFill>
                <a:srgbClr val="E3E5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relatório reúne evidência científica sobre três temas: calvície em homens de cerca de 30 anos, o comportamento repetitivo de passar a mão no cabelo até ferir o couro cabeludo, e o impacto psicológico e psiquiátrico, incluindo a segurança da finasterida.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executivo. A conclusão mais importante é que, no caso descrito, o comportamento de checagem provavelmente pesa mais do que a calvície em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clássico de Hamilton é 30% aos 30 anos, 50% aos 50 e 80% aos 70 em caucasianos. Estudos populacionais mais recentes, que contam graus leves, chegam a 50–58% em homens jovens.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Fontes: Rück 2024; Phillips 2006; PsychDB/DSM-5; Trüeb 2025. O DSM-5 prevê também um quadro semelhante ao TDC com defeitos reais, relevante quando a calvície existe mas a angústia é desproporcional.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toque traz um alívio momentâneo, uma certeza de que o cabelo ainda está ali. Esse alívio funciona como reforço negativo. Ao mesmo tempo, o atrito quebra fios e deixa o cabelo mais ralo do que a calvície deixaria sozinha, o que confirma o medo e pede nova checagem.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relação também corre no sentido inverso: o estresse é o gatilho de recaída mais citado na alopecia areata e é causa clássica de eflúvio telógeno. O sono costuma estar alterado nos três quadros.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alopecia areata grave, a ANVISA aprovou os inibidores de JAK baricitinibe (2023) e ritlecitinibe (2024). Com baricitinibe 4 mg, 36% a 39% recuperaram a maior parte do couro cabeludo em 36 semanas, contra 3% a 6% com placebo.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Mecanismo plausível: inibir a 5-alfa-redutase reduz neuroesteroides como a alopregnanolona, ligada à sinalização GABAérgica. A síndrome pós-finasterida não é universalmente reconhecida e não tem tratamento comprovado.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5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7764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rgbClr val="15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Alopecia, TOC e saúde mental em homens jovens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 escuro">
    <p:bg>
      <p:bgPr>
        <a:solidFill>
          <a:srgbClr val="15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Alopecia, TOC e saúde mental em homens jovens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backgrou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4"/>
                </a:solidFill>
              </a:rPr>
              <a:t>RELATÓRIO DE PESQUISA · 2026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1031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Alopecia, TOC e saúde mental em homens jovens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977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Queda de cabelo aos 30, o hábito de passar a mão no cabelo e o impacto na autoestima e no humor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Material informativo. Não substitui avaliação médica ou psicológica.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mensagem central em quatro pontos</a:t>
            </a:r>
            <a:endParaRPr lang="en-US" sz="3600" dirty="0"/>
          </a:p>
        </p:txBody>
      </p:sp>
      <p:sp>
        <p:nvSpPr>
          <p:cNvPr id="3" name="point card 1"/>
          <p:cNvSpPr/>
          <p:nvPr/>
        </p:nvSpPr>
        <p:spPr>
          <a:xfrm>
            <a:off x="548640" y="1463040"/>
            <a:ext cx="2606040" cy="429768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99156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Calvície aos 30 é comum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Entre 1 em 3 e 1 em 2 homens dessa idade já têm algum grau de alopecia androgenética.</a:t>
            </a:r>
            <a:endParaRPr lang="en-US" sz="1500" dirty="0"/>
          </a:p>
        </p:txBody>
      </p:sp>
      <p:sp>
        <p:nvSpPr>
          <p:cNvPr id="9" name="point card 2"/>
          <p:cNvSpPr/>
          <p:nvPr/>
        </p:nvSpPr>
        <p:spPr>
          <a:xfrm>
            <a:off x="3355848" y="1463040"/>
            <a:ext cx="2606040" cy="429768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630168" y="17830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651" y="199156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93208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3630168" y="2926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gesto é o problema maior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630168" y="38404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Esfregar o cabelo a cada minuto quebra fios, fere a pele e aponta para o espectro obsessivo-compulsivo.</a:t>
            </a:r>
            <a:endParaRPr lang="en-US" sz="1500" dirty="0"/>
          </a:p>
        </p:txBody>
      </p:sp>
      <p:sp>
        <p:nvSpPr>
          <p:cNvPr id="15" name="point card 3"/>
          <p:cNvSpPr/>
          <p:nvPr/>
        </p:nvSpPr>
        <p:spPr>
          <a:xfrm>
            <a:off x="6163056" y="1463040"/>
            <a:ext cx="2606040" cy="429768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6437376" y="178308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59" y="199156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00416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03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2926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Tratar o ciclo vem primeiro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437376" y="38404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Terapia de reversão de hábito e TCC têm a melhor evidência. O transplante deve esperar.</a:t>
            </a:r>
            <a:endParaRPr lang="en-US" sz="1500" dirty="0"/>
          </a:p>
        </p:txBody>
      </p:sp>
      <p:sp>
        <p:nvSpPr>
          <p:cNvPr id="21" name="point card 4"/>
          <p:cNvSpPr/>
          <p:nvPr/>
        </p:nvSpPr>
        <p:spPr>
          <a:xfrm>
            <a:off x="8970264" y="1463040"/>
            <a:ext cx="2606040" cy="429768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9244584" y="178308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067" y="1991563"/>
            <a:ext cx="451714" cy="45171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707624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04</a:t>
            </a:r>
            <a:endParaRPr lang="en-US" sz="2800" dirty="0"/>
          </a:p>
        </p:txBody>
      </p:sp>
      <p:sp>
        <p:nvSpPr>
          <p:cNvPr id="25" name="Text 19"/>
          <p:cNvSpPr txBox="1"/>
          <p:nvPr/>
        </p:nvSpPr>
        <p:spPr>
          <a:xfrm>
            <a:off x="9244584" y="2926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Finasterida pede cautela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244584" y="38404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EMA e ANVISA (2025) listam ideação suicida e depressão como possíveis efeitos.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ction backgrou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4"/>
                </a:solidFill>
              </a:rPr>
              <a:t>PARTE 1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3774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Calvície aos 30 anos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931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Frequência, sinal de alerta metabólico e diagnóstico diferencial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Ter entradas aos 30 é estatisticamente comum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7955280" y="1463040"/>
            <a:ext cx="3657600" cy="4297680"/>
          </a:xfrm>
          <a:prstGeom prst="roundRect">
            <a:avLst>
              <a:gd name="adj" fmla="val 35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7532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 em 3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a 1 em 2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3474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homens perto dos 30 anos já têm algum grau de calvície de padrão masculino.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Estudos mais recentes incluem graus leves e por isso encontram números mais altos que o clássico 30%. Não há dados brasileiros robustos por idade.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An Bras Dermatol/SciELO; Nigerian J Dermatol; PMC2938575; Ann Dermatol.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Quando começa cedo, olhe também o metabolismo</a:t>
            </a:r>
            <a:endParaRPr lang="en-US" sz="3600" dirty="0"/>
          </a:p>
        </p:txBody>
      </p:sp>
      <p:sp>
        <p:nvSpPr>
          <p:cNvPr id="3" name="big stat"/>
          <p:cNvSpPr/>
          <p:nvPr/>
        </p:nvSpPr>
        <p:spPr>
          <a:xfrm>
            <a:off x="548640" y="1463040"/>
            <a:ext cx="4206240" cy="4297680"/>
          </a:xfrm>
          <a:prstGeom prst="roundRect">
            <a:avLst>
              <a:gd name="adj" fmla="val 304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3,5×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337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mais chance de síndrome metabólica em pessoas com alopecia androgenética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526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OR 3,46 (IC95% 2,38–5,05) · 2.531 participantes · associação mais forte no início precoce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4630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Rastreio barato e coerente com a evidência</a:t>
            </a:r>
            <a:endParaRPr lang="en-US" sz="2000" dirty="0"/>
          </a:p>
        </p:txBody>
      </p:sp>
      <p:sp>
        <p:nvSpPr>
          <p:cNvPr id="8" name="screen item"/>
          <p:cNvSpPr/>
          <p:nvPr/>
        </p:nvSpPr>
        <p:spPr>
          <a:xfrm>
            <a:off x="5303520" y="2148840"/>
            <a:ext cx="301752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5532120" y="2377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685" y="2553005"/>
            <a:ext cx="380390" cy="38039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4652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Pressão arterial</a:t>
            </a:r>
            <a:endParaRPr lang="en-US" sz="1600" dirty="0"/>
          </a:p>
        </p:txBody>
      </p:sp>
      <p:sp>
        <p:nvSpPr>
          <p:cNvPr id="12" name="screen item"/>
          <p:cNvSpPr/>
          <p:nvPr/>
        </p:nvSpPr>
        <p:spPr>
          <a:xfrm>
            <a:off x="8503920" y="2148840"/>
            <a:ext cx="301752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3" name="icon circle"/>
          <p:cNvSpPr/>
          <p:nvPr/>
        </p:nvSpPr>
        <p:spPr>
          <a:xfrm>
            <a:off x="8732520" y="2377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085" y="255300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4692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Circunferência da cintura</a:t>
            </a:r>
            <a:endParaRPr lang="en-US" sz="1600" dirty="0"/>
          </a:p>
        </p:txBody>
      </p:sp>
      <p:sp>
        <p:nvSpPr>
          <p:cNvPr id="16" name="screen item"/>
          <p:cNvSpPr/>
          <p:nvPr/>
        </p:nvSpPr>
        <p:spPr>
          <a:xfrm>
            <a:off x="5303520" y="3566160"/>
            <a:ext cx="301752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5532120" y="3794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685" y="397032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3794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Glicemia</a:t>
            </a:r>
            <a:endParaRPr lang="en-US" sz="1600" dirty="0"/>
          </a:p>
        </p:txBody>
      </p:sp>
      <p:sp>
        <p:nvSpPr>
          <p:cNvPr id="20" name="screen item"/>
          <p:cNvSpPr/>
          <p:nvPr/>
        </p:nvSpPr>
        <p:spPr>
          <a:xfrm>
            <a:off x="8503920" y="3566160"/>
            <a:ext cx="301752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8732520" y="3794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085" y="397032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646920" y="3794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Colesterol e triglicerídeos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303520" y="50749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 homens com menos de 35 anos, outra meta-análise encontrou perfil de glicose e lipídios levemente pior.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Acta Derm Venereol 2022; Sci Rep 2017.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Nem toda queda aos 30 é calvície</a:t>
            </a:r>
            <a:endParaRPr lang="en-US" sz="3600" dirty="0"/>
          </a:p>
        </p:txBody>
      </p:sp>
      <p:sp>
        <p:nvSpPr>
          <p:cNvPr id="3" name="differential card"/>
          <p:cNvSpPr/>
          <p:nvPr/>
        </p:nvSpPr>
        <p:spPr>
          <a:xfrm>
            <a:off x="54864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995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Alopecia androgenética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Entradas e topo, progressiva, ligada ao DHT</a:t>
            </a:r>
            <a:endParaRPr lang="en-US" sz="1200" dirty="0"/>
          </a:p>
        </p:txBody>
      </p:sp>
      <p:sp>
        <p:nvSpPr>
          <p:cNvPr id="8" name="differential card"/>
          <p:cNvSpPr/>
          <p:nvPr/>
        </p:nvSpPr>
        <p:spPr>
          <a:xfrm>
            <a:off x="306324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3291840" y="16459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459" y="17995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918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Eflúvio telógeno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291840" y="2743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Queda difusa 2–3 meses após estresse, doença ou dieta. Reversível</a:t>
            </a:r>
            <a:endParaRPr lang="en-US" sz="1200" dirty="0"/>
          </a:p>
        </p:txBody>
      </p:sp>
      <p:sp>
        <p:nvSpPr>
          <p:cNvPr id="13" name="differential card"/>
          <p:cNvSpPr/>
          <p:nvPr/>
        </p:nvSpPr>
        <p:spPr>
          <a:xfrm>
            <a:off x="5577840" y="1417320"/>
            <a:ext cx="233172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5806440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59" y="17995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064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Alopecia areata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806440" y="2743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Autoimune, em placas. Maior peso psiquiátrico</a:t>
            </a:r>
            <a:endParaRPr lang="en-US" sz="1200" dirty="0"/>
          </a:p>
        </p:txBody>
      </p:sp>
      <p:sp>
        <p:nvSpPr>
          <p:cNvPr id="18" name="differential card"/>
          <p:cNvSpPr/>
          <p:nvPr/>
        </p:nvSpPr>
        <p:spPr>
          <a:xfrm>
            <a:off x="548640" y="3611880"/>
            <a:ext cx="233172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/>
        </p:spPr>
      </p:sp>
      <p:sp>
        <p:nvSpPr>
          <p:cNvPr id="19" name="icon circle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39940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4572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Tricoteiromania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937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Quebra por esfregar ou coçar repetidamente</a:t>
            </a:r>
            <a:endParaRPr lang="en-US" sz="1200" dirty="0"/>
          </a:p>
        </p:txBody>
      </p:sp>
      <p:sp>
        <p:nvSpPr>
          <p:cNvPr id="23" name="differential card"/>
          <p:cNvSpPr/>
          <p:nvPr/>
        </p:nvSpPr>
        <p:spPr>
          <a:xfrm>
            <a:off x="3063240" y="3611880"/>
            <a:ext cx="233172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/>
        </p:spPr>
      </p:sp>
      <p:sp>
        <p:nvSpPr>
          <p:cNvPr id="24" name="icon circle"/>
          <p:cNvSpPr/>
          <p:nvPr/>
        </p:nvSpPr>
        <p:spPr>
          <a:xfrm>
            <a:off x="3291840" y="3840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459" y="399409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291840" y="4572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Tricotilomania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291840" y="4937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Arrancar os fios. Espectro obsessivo-compulsivo</a:t>
            </a:r>
            <a:endParaRPr lang="en-US" sz="1200" dirty="0"/>
          </a:p>
        </p:txBody>
      </p:sp>
      <p:sp>
        <p:nvSpPr>
          <p:cNvPr id="28" name="differential card"/>
          <p:cNvSpPr/>
          <p:nvPr/>
        </p:nvSpPr>
        <p:spPr>
          <a:xfrm>
            <a:off x="5577840" y="3611880"/>
            <a:ext cx="233172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5806440" y="38404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0059" y="399409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806440" y="4572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Tinea e outras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806440" y="4937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Micose do couro cabeludo, doenças reumatológicas</a:t>
            </a:r>
            <a:endParaRPr lang="en-US" sz="1200" dirty="0"/>
          </a:p>
        </p:txBody>
      </p:sp>
      <p:sp>
        <p:nvSpPr>
          <p:cNvPr id="33" name="diagnosis panel"/>
          <p:cNvSpPr/>
          <p:nvPr/>
        </p:nvSpPr>
        <p:spPr>
          <a:xfrm>
            <a:off x="8229600" y="1417320"/>
            <a:ext cx="3383280" cy="4206240"/>
          </a:xfrm>
          <a:prstGeom prst="roundRect">
            <a:avLst>
              <a:gd name="adj" fmla="val 3784"/>
            </a:avLst>
          </a:prstGeom>
          <a:solidFill>
            <a:schemeClr val="tx2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Como se diagnostica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8503920" y="21945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História e padrão da perda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Teste de tração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Tricoscopia do couro cabeludo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TSH, hemograma e ferro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Biópsia só em casos atípicos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503920" y="4434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8,5%</a:t>
            </a:r>
            <a:endParaRPr lang="en-US" sz="3400" dirty="0"/>
          </a:p>
        </p:txBody>
      </p:sp>
      <p:sp>
        <p:nvSpPr>
          <p:cNvPr id="37" name="Text 29"/>
          <p:cNvSpPr txBox="1"/>
          <p:nvPr/>
        </p:nvSpPr>
        <p:spPr>
          <a:xfrm>
            <a:off x="9921240" y="44348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 1.411 pacientes com queda tinham disfunção da tireoide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Cleve Clin J Med 2026; JAAPA 2026; Skin Appendage Disord 2021; J Clin Aesthet Dermatol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ction backgrou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4"/>
                </a:solidFill>
              </a:rPr>
              <a:t>PARTE 2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3774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 mão no cabelo a cada minuto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931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O que pode estar por trás do gesto e o dano que ele causa</a:t>
            </a:r>
            <a:endParaRPr lang="en-US" sz="1800" dirty="0"/>
          </a:p>
        </p:txBody>
      </p:sp>
      <p:sp>
        <p:nvSpPr>
          <p:cNvPr id="6" name="stat card"/>
          <p:cNvSpPr/>
          <p:nvPr/>
        </p:nvSpPr>
        <p:spPr>
          <a:xfrm>
            <a:off x="7955280" y="2194560"/>
            <a:ext cx="3657600" cy="2468880"/>
          </a:xfrm>
          <a:prstGeom prst="roundRect">
            <a:avLst>
              <a:gd name="adj" fmla="val 5185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0" y="24231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2"/>
                </a:solidFill>
              </a:rPr>
              <a:t>15 min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3474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 fricção já bastam para quebrar o cabelo. Repetido o dia todo, vira trauma contínuo.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mesmo gesto, motivos diferentes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O que move o gesto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235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Hipótese mais provável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7325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Pistas</a:t>
            </a:r>
            <a:endParaRPr lang="en-US" sz="1200" dirty="0"/>
          </a:p>
        </p:txBody>
      </p:sp>
      <p:sp>
        <p:nvSpPr>
          <p:cNvPr id="6" name="hypothesis row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7" name="icon circle"/>
          <p:cNvSpPr/>
          <p:nvPr/>
        </p:nvSpPr>
        <p:spPr>
          <a:xfrm>
            <a:off x="731520" y="18470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61" y="1991929"/>
            <a:ext cx="313822" cy="31382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Medo de ficar mais calvo, "conferir a densidade"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5257800" y="2039112"/>
            <a:ext cx="274320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2356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Transtorno dismórfico corporal (TDC)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1691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Espelho, fotos, bonés, pedir confirmação a outros ou a médicos</a:t>
            </a:r>
            <a:endParaRPr lang="en-US" sz="1300" dirty="0"/>
          </a:p>
        </p:txBody>
      </p:sp>
      <p:sp>
        <p:nvSpPr>
          <p:cNvPr id="13" name="hypothesis row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731520" y="289864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61" y="3043489"/>
            <a:ext cx="313822" cy="31382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2743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Alívio, hábito automático, tédio, estresse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5257800" y="3090672"/>
            <a:ext cx="274320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62356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BFRB / tricoteiromania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732520" y="2743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Faz sem perceber e sente alívio</a:t>
            </a:r>
            <a:endParaRPr lang="en-US" sz="1300" dirty="0"/>
          </a:p>
        </p:txBody>
      </p:sp>
      <p:sp>
        <p:nvSpPr>
          <p:cNvPr id="20" name="hypothesis row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731520" y="3950208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61" y="4095049"/>
            <a:ext cx="313822" cy="31382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600200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Medo não estético ou sensação de "não estar certo"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>
            <a:off x="5257800" y="4142232"/>
            <a:ext cx="274320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623560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TOC de checagem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873252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Rituais em outras áreas da vida</a:t>
            </a:r>
            <a:endParaRPr lang="en-US" sz="1300" dirty="0"/>
          </a:p>
        </p:txBody>
      </p:sp>
      <p:sp>
        <p:nvSpPr>
          <p:cNvPr id="27" name="hypothesis row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28" name="icon circle"/>
          <p:cNvSpPr/>
          <p:nvPr/>
        </p:nvSpPr>
        <p:spPr>
          <a:xfrm>
            <a:off x="731520" y="5001768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61" y="5146609"/>
            <a:ext cx="313822" cy="31382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600200" y="4846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Coceira intensa que leva a coçar</a:t>
            </a:r>
            <a:endParaRPr lang="en-US" sz="1400" dirty="0"/>
          </a:p>
        </p:txBody>
      </p:sp>
      <p:sp>
        <p:nvSpPr>
          <p:cNvPr id="31" name="arrow"/>
          <p:cNvSpPr/>
          <p:nvPr/>
        </p:nvSpPr>
        <p:spPr>
          <a:xfrm>
            <a:off x="5257800" y="5193792"/>
            <a:ext cx="274320" cy="219456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562356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Líquen simples crônico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8732520" y="4846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Placas espessadas, crostas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As hipóteses podem coexistir. Só um profissional consegue dizer qual se aplica.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atrito deixa marcas visíveis na tricoscopia</a:t>
            </a:r>
            <a:endParaRPr lang="en-US" sz="3600" dirty="0"/>
          </a:p>
        </p:txBody>
      </p:sp>
      <p:pic>
        <p:nvPicPr>
          <p:cNvPr id="3" name="trichoscopy illustr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38912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5760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Ilustração esquemática</a:t>
            </a:r>
            <a:endParaRPr lang="en-US" sz="1000" dirty="0"/>
          </a:p>
        </p:txBody>
      </p:sp>
      <p:sp>
        <p:nvSpPr>
          <p:cNvPr id="5" name="marker"/>
          <p:cNvSpPr/>
          <p:nvPr/>
        </p:nvSpPr>
        <p:spPr>
          <a:xfrm>
            <a:off x="5669280" y="15727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Pelos "em vassoura"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9202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Pontas desfiadas pela fricção</a:t>
            </a:r>
            <a:endParaRPr lang="en-US" sz="1400" dirty="0"/>
          </a:p>
        </p:txBody>
      </p:sp>
      <p:sp>
        <p:nvSpPr>
          <p:cNvPr id="8" name="marker"/>
          <p:cNvSpPr/>
          <p:nvPr/>
        </p:nvSpPr>
        <p:spPr>
          <a:xfrm>
            <a:off x="5669280" y="26517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0" y="25420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Fios quebrados em alturas diferentes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9992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Também pelos em V</a:t>
            </a:r>
            <a:endParaRPr lang="en-US" sz="1400" dirty="0"/>
          </a:p>
        </p:txBody>
      </p:sp>
      <p:sp>
        <p:nvSpPr>
          <p:cNvPr id="11" name="marker"/>
          <p:cNvSpPr/>
          <p:nvPr/>
        </p:nvSpPr>
        <p:spPr>
          <a:xfrm>
            <a:off x="5669280" y="37307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36210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Descamação, vermelhidão e crostas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407822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Quando há coçadura e escoriação</a:t>
            </a:r>
            <a:endParaRPr lang="en-US" sz="1400" dirty="0"/>
          </a:p>
        </p:txBody>
      </p:sp>
      <p:sp>
        <p:nvSpPr>
          <p:cNvPr id="14" name="marker"/>
          <p:cNvSpPr/>
          <p:nvPr/>
        </p:nvSpPr>
        <p:spPr>
          <a:xfrm>
            <a:off x="5669280" y="480974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17920" y="47000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Tende a ser reversível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515721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quebra por atrito regride quando o gesto para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Bhat 2025; Corona-Rodarte 2026; Trüeb 2025; Sánchez-Dueñas 2021 (três homens com calvície e tricoteiromania).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TDC é muito mais comum no consultório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con circle"/>
          <p:cNvSpPr/>
          <p:nvPr/>
        </p:nvSpPr>
        <p:spPr>
          <a:xfrm>
            <a:off x="749808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99" y="1616659"/>
            <a:ext cx="332842" cy="33284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32104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Homens se fixam mais na calvície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321040" y="1901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Num estudo com 200 pessoas com TDC, "cabelo ralo/calvície" era foco mais comum nos homens</a:t>
            </a:r>
            <a:endParaRPr lang="en-US" sz="1200" dirty="0"/>
          </a:p>
        </p:txBody>
      </p:sp>
      <p:sp>
        <p:nvSpPr>
          <p:cNvPr id="8" name="icon circle"/>
          <p:cNvSpPr/>
          <p:nvPr/>
        </p:nvSpPr>
        <p:spPr>
          <a:xfrm>
            <a:off x="7498080" y="2926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699" y="307969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2104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Risco de suicídio considerável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8321040" y="336499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 TDC afeta cerca de 2% dos adultos e pesa sobre o funcionamento e o trabalho</a:t>
            </a:r>
            <a:endParaRPr lang="en-US" sz="1200" dirty="0"/>
          </a:p>
        </p:txBody>
      </p:sp>
      <p:sp>
        <p:nvSpPr>
          <p:cNvPr id="12" name="icon circle"/>
          <p:cNvSpPr/>
          <p:nvPr/>
        </p:nvSpPr>
        <p:spPr>
          <a:xfrm>
            <a:off x="7498080" y="4389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699" y="4542739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321040" y="4389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Triagem simples existe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8321040" y="48280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Questionário BDDQ-DV: 100% de sensibilidade e 93% de especificidade (estudo pequeno)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Ribeiro 2017 (meta-análise de 33 estudos); Phillips, Menard &amp; Fay 2006; Rück 2024; Dufresne 2001.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círculo vicioso da checagem</a:t>
            </a:r>
            <a:endParaRPr lang="en-US" sz="3600" dirty="0"/>
          </a:p>
        </p:txBody>
      </p:sp>
      <p:sp>
        <p:nvSpPr>
          <p:cNvPr id="3" name="cycle arrow"/>
          <p:cNvSpPr/>
          <p:nvPr/>
        </p:nvSpPr>
        <p:spPr>
          <a:xfrm>
            <a:off x="6957440" y="1991329"/>
            <a:ext cx="994338" cy="850507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" name="cycle arrow"/>
          <p:cNvSpPr/>
          <p:nvPr/>
        </p:nvSpPr>
        <p:spPr>
          <a:xfrm flipH="1">
            <a:off x="8183817" y="3608664"/>
            <a:ext cx="217148" cy="117229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cycle arrow"/>
          <p:cNvSpPr/>
          <p:nvPr/>
        </p:nvSpPr>
        <p:spPr>
          <a:xfrm flipH="1">
            <a:off x="5383603" y="5293815"/>
            <a:ext cx="1430891" cy="914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cycle arrow"/>
          <p:cNvSpPr/>
          <p:nvPr/>
        </p:nvSpPr>
        <p:spPr>
          <a:xfrm flipH="1" flipV="1">
            <a:off x="3797130" y="3608664"/>
            <a:ext cx="217148" cy="117229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cycle arrow"/>
          <p:cNvSpPr/>
          <p:nvPr/>
        </p:nvSpPr>
        <p:spPr>
          <a:xfrm flipV="1">
            <a:off x="4246318" y="1991329"/>
            <a:ext cx="994338" cy="850507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cycle node"/>
          <p:cNvSpPr/>
          <p:nvPr/>
        </p:nvSpPr>
        <p:spPr>
          <a:xfrm>
            <a:off x="5047488" y="1234440"/>
            <a:ext cx="2103120" cy="100584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5184648" y="146304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6322" y="159471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24728" y="135331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Medo da queda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824728" y="17647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ansiedade, vergonha</a:t>
            </a:r>
            <a:endParaRPr lang="en-US" sz="1100" dirty="0"/>
          </a:p>
        </p:txBody>
      </p:sp>
      <p:sp>
        <p:nvSpPr>
          <p:cNvPr id="13" name="cycle node"/>
          <p:cNvSpPr/>
          <p:nvPr/>
        </p:nvSpPr>
        <p:spPr>
          <a:xfrm>
            <a:off x="7758610" y="2592885"/>
            <a:ext cx="2103120" cy="100584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25400">
            <a:solidFill>
              <a:srgbClr val="FF7A59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7895770" y="2821485"/>
            <a:ext cx="548640" cy="54864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443" y="2953159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535850" y="2711757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Mão no cabelo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535850" y="3123237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"conferir" a densidade</a:t>
            </a:r>
            <a:endParaRPr lang="en-US" sz="1100" dirty="0"/>
          </a:p>
        </p:txBody>
      </p:sp>
      <p:sp>
        <p:nvSpPr>
          <p:cNvPr id="18" name="cycle node"/>
          <p:cNvSpPr/>
          <p:nvPr/>
        </p:nvSpPr>
        <p:spPr>
          <a:xfrm>
            <a:off x="6723053" y="4790895"/>
            <a:ext cx="2103120" cy="100584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25400">
            <a:solidFill>
              <a:srgbClr val="FFC75F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6860213" y="5019495"/>
            <a:ext cx="548640" cy="548640"/>
          </a:xfrm>
          <a:prstGeom prst="ellipse">
            <a:avLst/>
          </a:prstGeom>
          <a:solidFill>
            <a:srgbClr val="FFC75F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887" y="5151169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500293" y="4909767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Alívio momentâneo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500293" y="5321247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reforça o hábito</a:t>
            </a:r>
            <a:endParaRPr lang="en-US" sz="1100" dirty="0"/>
          </a:p>
        </p:txBody>
      </p:sp>
      <p:sp>
        <p:nvSpPr>
          <p:cNvPr id="23" name="cycle node"/>
          <p:cNvSpPr/>
          <p:nvPr/>
        </p:nvSpPr>
        <p:spPr>
          <a:xfrm>
            <a:off x="3371923" y="4790895"/>
            <a:ext cx="2103120" cy="100584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25400">
            <a:solidFill>
              <a:srgbClr val="FF7A59"/>
            </a:solidFill>
            <a:prstDash val="solid"/>
          </a:ln>
        </p:spPr>
      </p:sp>
      <p:sp>
        <p:nvSpPr>
          <p:cNvPr id="24" name="icon circle"/>
          <p:cNvSpPr/>
          <p:nvPr/>
        </p:nvSpPr>
        <p:spPr>
          <a:xfrm>
            <a:off x="3509083" y="5019495"/>
            <a:ext cx="548640" cy="54864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0756" y="5151169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149163" y="4909767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Atrito quebra fios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149163" y="5321247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 fere o couro cabeludo</a:t>
            </a:r>
            <a:endParaRPr lang="en-US" sz="1100" dirty="0"/>
          </a:p>
        </p:txBody>
      </p:sp>
      <p:sp>
        <p:nvSpPr>
          <p:cNvPr id="28" name="cycle node"/>
          <p:cNvSpPr/>
          <p:nvPr/>
        </p:nvSpPr>
        <p:spPr>
          <a:xfrm>
            <a:off x="2336366" y="2592885"/>
            <a:ext cx="2103120" cy="100584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25400">
            <a:solidFill>
              <a:srgbClr val="00B8A9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2473526" y="2821485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200" y="2953159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113606" y="2711757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Cabelo mais ralo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3113606" y="3123237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confirma o medo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4297680" y="33832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Cada elo tem apoio na literatura; o ciclo completo ainda não foi medido em homens com calvície.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Fontes: Tan &amp; Jafferany 2025; Toh et al. 2025; Trüeb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Na calvície, o peso cai mais sobre a autoestima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78308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371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Diferença em relação a controles (SMD), meta-análise de 2025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120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Qualidade de vida: impacto moderado (DLQI médio 8,16). Depressão clínica não aumenta na maioria dos homens.</a:t>
            </a:r>
            <a:endParaRPr lang="en-US" sz="1300" dirty="0"/>
          </a:p>
        </p:txBody>
      </p:sp>
      <p:sp>
        <p:nvSpPr>
          <p:cNvPr id="6" name="risk group panel"/>
          <p:cNvSpPr/>
          <p:nvPr/>
        </p:nvSpPr>
        <p:spPr>
          <a:xfrm>
            <a:off x="6766560" y="1371600"/>
            <a:ext cx="4846320" cy="44805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8660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Quem sofre mais</a:t>
            </a:r>
            <a:endParaRPr lang="en-US" sz="2000" dirty="0"/>
          </a:p>
        </p:txBody>
      </p:sp>
      <p:sp>
        <p:nvSpPr>
          <p:cNvPr id="8" name="icon circle"/>
          <p:cNvSpPr/>
          <p:nvPr/>
        </p:nvSpPr>
        <p:spPr>
          <a:xfrm>
            <a:off x="7086600" y="22402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274" y="237195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1812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Início antes dos 20 anos</a:t>
            </a:r>
            <a:endParaRPr lang="en-US" sz="1600" dirty="0"/>
          </a:p>
        </p:txBody>
      </p:sp>
      <p:sp>
        <p:nvSpPr>
          <p:cNvPr id="11" name="icon circle"/>
          <p:cNvSpPr/>
          <p:nvPr/>
        </p:nvSpPr>
        <p:spPr>
          <a:xfrm>
            <a:off x="7086600" y="3017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274" y="3149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18120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Perda percebida como grave</a:t>
            </a:r>
            <a:endParaRPr lang="en-US" sz="1600" dirty="0"/>
          </a:p>
        </p:txBody>
      </p:sp>
      <p:sp>
        <p:nvSpPr>
          <p:cNvPr id="14" name="icon circle"/>
          <p:cNvSpPr/>
          <p:nvPr/>
        </p:nvSpPr>
        <p:spPr>
          <a:xfrm>
            <a:off x="7086600" y="3794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274" y="3926434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818120" y="3794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Homens jovens e solteiros</a:t>
            </a:r>
            <a:endParaRPr lang="en-US" sz="1600" dirty="0"/>
          </a:p>
        </p:txBody>
      </p:sp>
      <p:sp>
        <p:nvSpPr>
          <p:cNvPr id="17" name="icon circle"/>
          <p:cNvSpPr/>
          <p:nvPr/>
        </p:nvSpPr>
        <p:spPr>
          <a:xfrm>
            <a:off x="7086600" y="4572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8274" y="4703674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818120" y="4572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Preocupação dismórfica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086600" y="5349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Um gesto que fere o couro cabeludo a cada minuto já indica sofrimento desproporcional.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Kong 2025; Huang, JAMA Dermatol 2021; Frith &amp; Jankowski 2023; Acta Derm Venereol 2023.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Na alopecia areata, o risco psiquiátrico é maior</a:t>
            </a:r>
            <a:endParaRPr lang="en-US" sz="3600" dirty="0"/>
          </a:p>
        </p:txBody>
      </p:sp>
      <p:sp>
        <p:nvSpPr>
          <p:cNvPr id="3" name="areata stat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</a:rPr>
              <a:t>&gt;1/3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dos pacientes têm sintomas depressivos ou ansiosos relevantes</a:t>
            </a:r>
            <a:endParaRPr lang="en-US" sz="1500" dirty="0"/>
          </a:p>
        </p:txBody>
      </p:sp>
      <p:sp>
        <p:nvSpPr>
          <p:cNvPr id="6" name="areata stat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691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2"/>
                </a:solidFill>
              </a:rPr>
              <a:t>7–17%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têm transtornos que pedem tratamento psiquiátrico</a:t>
            </a:r>
            <a:endParaRPr lang="en-US" sz="1500" dirty="0"/>
          </a:p>
        </p:txBody>
      </p:sp>
      <p:sp>
        <p:nvSpPr>
          <p:cNvPr id="9" name="areata stat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691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2"/>
                </a:solidFill>
              </a:rPr>
              <a:t>6,3×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risco de tentativa de suicídio numa coorte de Taiwan (estudo único)</a:t>
            </a:r>
            <a:endParaRPr lang="en-US" sz="1500" dirty="0"/>
          </a:p>
        </p:txBody>
      </p:sp>
      <p:sp>
        <p:nvSpPr>
          <p:cNvPr id="12" name="social card"/>
          <p:cNvSpPr/>
          <p:nvPr/>
        </p:nvSpPr>
        <p:spPr>
          <a:xfrm>
            <a:off x="548640" y="4069080"/>
            <a:ext cx="11064240" cy="1691640"/>
          </a:xfrm>
          <a:prstGeom prst="roundRect">
            <a:avLst>
              <a:gd name="adj" fmla="val 7568"/>
            </a:avLst>
          </a:prstGeom>
          <a:solidFill>
            <a:schemeClr val="tx2"/>
          </a:solidFill>
          <a:ln/>
        </p:spPr>
      </p:sp>
      <p:sp>
        <p:nvSpPr>
          <p:cNvPr id="13" name="icon circle"/>
          <p:cNvSpPr/>
          <p:nvPr/>
        </p:nvSpPr>
        <p:spPr>
          <a:xfrm>
            <a:off x="868680" y="44348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4654296"/>
            <a:ext cx="475488" cy="47548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057400" y="4251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3,6 anos mais jovens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2057400" y="489204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Os mesmos homens, depois de um transplante, foram vistos como mais jovens, atraentes e bem-sucedidos. A percepção social é real, mas não há bons dados sobre emprego ou relacionamentos.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Lauron, JAMA Dermatol 2023; Dermatology 2023; Bater 2016.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ction backgrou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4"/>
                </a:solidFill>
              </a:rPr>
              <a:t>PARTE 3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3774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 que funciona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931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Primeiro o comportamento, depois a queda, com cautela na medicação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Terapia de reversão de hábito lidera a evidência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Tamanho de efeito vs. placebo (|SMD|), 24 ensaios em tricotilomania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Remédios: apoiados em estudos isolados, nenhum aprovado para isso. N-acetilcisteína: 56% vs 16% com placebo, a partir da 9ª semana (amostra quase toda feminina).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Como a HRT funciona</a:t>
            </a:r>
            <a:endParaRPr lang="en-US" sz="1800" dirty="0"/>
          </a:p>
        </p:txBody>
      </p:sp>
      <p:sp>
        <p:nvSpPr>
          <p:cNvPr id="7" name="hrt step"/>
          <p:cNvSpPr/>
          <p:nvPr/>
        </p:nvSpPr>
        <p:spPr>
          <a:xfrm>
            <a:off x="7040880" y="1920240"/>
            <a:ext cx="4572000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23760" y="192024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icon circle"/>
          <p:cNvSpPr/>
          <p:nvPr/>
        </p:nvSpPr>
        <p:spPr>
          <a:xfrm>
            <a:off x="7635240" y="212140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859" y="2275027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58200" y="2029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Perceber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45820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Notar quando a mão vai ao cabelo e o que dispara o gesto</a:t>
            </a:r>
            <a:endParaRPr lang="en-US" sz="1200" dirty="0"/>
          </a:p>
        </p:txBody>
      </p:sp>
      <p:sp>
        <p:nvSpPr>
          <p:cNvPr id="13" name="hrt step"/>
          <p:cNvSpPr/>
          <p:nvPr/>
        </p:nvSpPr>
        <p:spPr>
          <a:xfrm>
            <a:off x="7040880" y="3108960"/>
            <a:ext cx="4572000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223760" y="310896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icon circle"/>
          <p:cNvSpPr/>
          <p:nvPr/>
        </p:nvSpPr>
        <p:spPr>
          <a:xfrm>
            <a:off x="7635240" y="33101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859" y="346374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Resposta incompatível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Fechar as mãos ou tensionar os braços por cerca de um minuto</a:t>
            </a:r>
            <a:endParaRPr lang="en-US" sz="1200" dirty="0"/>
          </a:p>
        </p:txBody>
      </p:sp>
      <p:sp>
        <p:nvSpPr>
          <p:cNvPr id="19" name="hrt step"/>
          <p:cNvSpPr/>
          <p:nvPr/>
        </p:nvSpPr>
        <p:spPr>
          <a:xfrm>
            <a:off x="7040880" y="4297680"/>
            <a:ext cx="4572000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223760" y="429768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3</a:t>
            </a:r>
            <a:endParaRPr lang="en-US" sz="2800" dirty="0"/>
          </a:p>
        </p:txBody>
      </p:sp>
      <p:sp>
        <p:nvSpPr>
          <p:cNvPr id="21" name="icon circle"/>
          <p:cNvSpPr/>
          <p:nvPr/>
        </p:nvSpPr>
        <p:spPr>
          <a:xfrm>
            <a:off x="7635240" y="449884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859" y="4652467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458200" y="4407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Apoio social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458200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Alguém de confiança reforça o progresso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04088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Novos modelos (ComB, ACT, DBT) e autoajuda com "decoupling" também mostraram benefício.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Farhat 2020; Grant 2009; TLC Foundation; IOCDF; Murase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 for checagem, o caminho é TCC com ERP</a:t>
            </a:r>
            <a:endParaRPr lang="en-US" sz="3600" dirty="0"/>
          </a:p>
        </p:txBody>
      </p:sp>
      <p:sp>
        <p:nvSpPr>
          <p:cNvPr id="3" name="icon circle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649578"/>
            <a:ext cx="404165" cy="4041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481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Exposição e prevenção de resposta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Aprender a não checar, não pedir confirmação e reduzir o espelho</a:t>
            </a:r>
            <a:endParaRPr lang="en-US" sz="1400" dirty="0"/>
          </a:p>
        </p:txBody>
      </p:sp>
      <p:sp>
        <p:nvSpPr>
          <p:cNvPr id="7" name="icon circle"/>
          <p:cNvSpPr/>
          <p:nvPr/>
        </p:nvSpPr>
        <p:spPr>
          <a:xfrm>
            <a:off x="548640" y="28346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021178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8529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ISRS em dose mais alta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3291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TDC costuma exigir doses maiores e tentativas de 12 a 16 semanas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548640" y="4206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39277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4224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Efeito grande nos dois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4663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Sintomas depressivos do TDC: ISRS SMD −1,16; TCC −1,12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5321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Dizer "para de mexer" não funciona. Funciona tratar como sintoma e encaminhar.</a:t>
            </a:r>
            <a:endParaRPr lang="en-US" sz="1300" dirty="0"/>
          </a:p>
        </p:txBody>
      </p:sp>
      <p:sp>
        <p:nvSpPr>
          <p:cNvPr id="16" name="transplant card"/>
          <p:cNvSpPr/>
          <p:nvPr/>
        </p:nvSpPr>
        <p:spPr>
          <a:xfrm>
            <a:off x="6675120" y="1463040"/>
            <a:ext cx="4937760" cy="4434840"/>
          </a:xfrm>
          <a:prstGeom prst="roundRect">
            <a:avLst>
              <a:gd name="adj" fmla="val 2887"/>
            </a:avLst>
          </a:prstGeom>
          <a:solidFill>
            <a:schemeClr val="accent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6995160" y="17373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698" y="1923898"/>
            <a:ext cx="404165" cy="40416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95528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transplante deve esperar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99516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64%</a:t>
            </a:r>
            <a:endParaRPr lang="en-US" sz="4800" dirty="0"/>
          </a:p>
        </p:txBody>
      </p:sp>
      <p:sp>
        <p:nvSpPr>
          <p:cNvPr id="21" name="Text 15"/>
          <p:cNvSpPr txBox="1"/>
          <p:nvPr/>
        </p:nvSpPr>
        <p:spPr>
          <a:xfrm>
            <a:off x="8778240" y="27432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das pessoas com TDC fizeram tratamentos estéticos, que raramente melhoraram o transtorno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374904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Aos 30 anos o padrão final da calvície pode não estar definido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Estabilizar a queda com tratamento clínico por pelo menos 12 meses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Controlar o hábito de esfregar, que também lesaria os enxertos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Rück 2024; Geho 2026; Loewen 2026; PMC9063569; Crerand 2005; Gumma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Opções para a queda em si</a:t>
            </a:r>
            <a:endParaRPr lang="en-US" sz="3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Evidência principal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Finasterida 1 mg oral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oral aprovada; com minoxidil é a combinação mais eficaz em homens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EMA/ANVISA 2025: humor, depressão, ideação suicida, efeitos sexuais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Finasterida tópica 0,25%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+20,2 vs +6,7 fios em 24 semanas, próxima da oral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 no sangue &gt;100× menor; FDA alertou sobre versões manipuladas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Minoxidil oral em dose baixa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mg não inferior ao tópico em ensaio brasileiro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Pelos no corpo; sem efeitos psiquiátricos relatados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Dutasterida 0,5 mg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mais eficaz nas meta-análises em rede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Off-label para queda; incluída no alerta da ANVISA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Clascoterona 5% tópica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3 positiva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não aprovada; registro previsto para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PRP e lasers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Ganhos modestos de densidade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Adjuvantes, evidência heterogênea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J Cosmet Dermatol 2024/2025; Front Med 2025; JEADV 2022; AAFP 2025; JAAD 2021; Skin Appendage Disord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Finasterida: como o alerta se formou</a:t>
            </a:r>
            <a:endParaRPr lang="en-US" sz="3600" dirty="0"/>
          </a:p>
        </p:txBody>
      </p:sp>
      <p:sp>
        <p:nvSpPr>
          <p:cNvPr id="3" name="timeline axis"/>
          <p:cNvSpPr/>
          <p:nvPr/>
        </p:nvSpPr>
        <p:spPr>
          <a:xfrm>
            <a:off x="914400" y="3017520"/>
            <a:ext cx="103327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timeline dot"/>
          <p:cNvSpPr/>
          <p:nvPr/>
        </p:nvSpPr>
        <p:spPr>
          <a:xfrm>
            <a:off x="758952" y="2862072"/>
            <a:ext cx="310896" cy="310896"/>
          </a:xfrm>
          <a:prstGeom prst="ellipse">
            <a:avLst/>
          </a:prstGeom>
          <a:solidFill>
            <a:srgbClr val="7A80A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80A3"/>
                </a:solidFill>
              </a:rPr>
              <a:t>2012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" y="2011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Publicidade sobre a "síndrome pós-finasterida" aumenta as notificações</a:t>
            </a:r>
            <a:endParaRPr lang="en-US" sz="1100" dirty="0"/>
          </a:p>
        </p:txBody>
      </p:sp>
      <p:sp>
        <p:nvSpPr>
          <p:cNvPr id="7" name="timeline dot"/>
          <p:cNvSpPr/>
          <p:nvPr/>
        </p:nvSpPr>
        <p:spPr>
          <a:xfrm>
            <a:off x="2825496" y="2862072"/>
            <a:ext cx="310896" cy="310896"/>
          </a:xfrm>
          <a:prstGeom prst="ellipse">
            <a:avLst/>
          </a:prstGeom>
          <a:solidFill>
            <a:srgbClr val="A29BFE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12264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9BFE"/>
                </a:solidFill>
              </a:rPr>
              <a:t>2022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12264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FDA inclui alerta de suicídio na bula do Propecia</a:t>
            </a:r>
            <a:endParaRPr lang="en-US" sz="1100" dirty="0"/>
          </a:p>
        </p:txBody>
      </p:sp>
      <p:sp>
        <p:nvSpPr>
          <p:cNvPr id="10" name="timeline dot"/>
          <p:cNvSpPr/>
          <p:nvPr/>
        </p:nvSpPr>
        <p:spPr>
          <a:xfrm>
            <a:off x="4892040" y="2862072"/>
            <a:ext cx="310896" cy="310896"/>
          </a:xfrm>
          <a:prstGeom prst="ellipse">
            <a:avLst/>
          </a:prstGeom>
          <a:solidFill>
            <a:srgbClr val="FFC75F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78808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75F"/>
                </a:solidFill>
              </a:rPr>
              <a:t>Abr 2025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78808" y="2011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FDA alerta sobre finasterida tópica manipulada</a:t>
            </a:r>
            <a:endParaRPr lang="en-US" sz="1100" dirty="0"/>
          </a:p>
        </p:txBody>
      </p:sp>
      <p:sp>
        <p:nvSpPr>
          <p:cNvPr id="13" name="timeline dot"/>
          <p:cNvSpPr/>
          <p:nvPr/>
        </p:nvSpPr>
        <p:spPr>
          <a:xfrm>
            <a:off x="6958584" y="2862072"/>
            <a:ext cx="310896" cy="310896"/>
          </a:xfrm>
          <a:prstGeom prst="ellipse">
            <a:avLst/>
          </a:prstGeom>
          <a:solidFill>
            <a:srgbClr val="FF7A59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59"/>
                </a:solidFill>
              </a:rPr>
              <a:t>Mai 2025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EMA confirma ideação suicida como efeito adverso</a:t>
            </a:r>
            <a:endParaRPr lang="en-US" sz="1100" dirty="0"/>
          </a:p>
        </p:txBody>
      </p:sp>
      <p:sp>
        <p:nvSpPr>
          <p:cNvPr id="16" name="timeline dot"/>
          <p:cNvSpPr/>
          <p:nvPr/>
        </p:nvSpPr>
        <p:spPr>
          <a:xfrm>
            <a:off x="9025128" y="2862072"/>
            <a:ext cx="310896" cy="310896"/>
          </a:xfrm>
          <a:prstGeom prst="ellipse">
            <a:avLst/>
          </a:prstGeom>
          <a:solidFill>
            <a:srgbClr val="FF7A59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11896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59"/>
                </a:solidFill>
              </a:rPr>
              <a:t>Jun 2025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2011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ANVISA publica o Alerta GGMON nº 7/2025</a:t>
            </a:r>
            <a:endParaRPr lang="en-US" sz="1100" dirty="0"/>
          </a:p>
        </p:txBody>
      </p:sp>
      <p:sp>
        <p:nvSpPr>
          <p:cNvPr id="19" name="timeline dot"/>
          <p:cNvSpPr/>
          <p:nvPr/>
        </p:nvSpPr>
        <p:spPr>
          <a:xfrm>
            <a:off x="11091672" y="2862072"/>
            <a:ext cx="310896" cy="310896"/>
          </a:xfrm>
          <a:prstGeom prst="ellipse">
            <a:avLst/>
          </a:prstGeom>
          <a:solidFill>
            <a:srgbClr val="00B8A9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7844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</a:rPr>
              <a:t>Ago 2025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378440" y="3749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Decisão final da União Europeia; cartão para o paciente</a:t>
            </a:r>
            <a:endParaRPr lang="en-US" sz="1100" dirty="0"/>
          </a:p>
        </p:txBody>
      </p:sp>
      <p:sp>
        <p:nvSpPr>
          <p:cNvPr id="22" name="fact card"/>
          <p:cNvSpPr/>
          <p:nvPr/>
        </p:nvSpPr>
        <p:spPr>
          <a:xfrm>
            <a:off x="548640" y="4617720"/>
            <a:ext cx="3474720" cy="1234440"/>
          </a:xfrm>
          <a:prstGeom prst="roundRect">
            <a:avLst>
              <a:gd name="adj" fmla="val 10370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3,47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257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ROR de suicidalidade em homens ≤45 anos (VigiBase)</a:t>
            </a:r>
            <a:endParaRPr lang="en-US" sz="1200" dirty="0"/>
          </a:p>
        </p:txBody>
      </p:sp>
      <p:sp>
        <p:nvSpPr>
          <p:cNvPr id="25" name="fact card"/>
          <p:cNvSpPr/>
          <p:nvPr/>
        </p:nvSpPr>
        <p:spPr>
          <a:xfrm>
            <a:off x="4297680" y="4617720"/>
            <a:ext cx="3474720" cy="1234440"/>
          </a:xfrm>
          <a:prstGeom prst="roundRect">
            <a:avLst>
              <a:gd name="adj" fmla="val 1037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3–4 meses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5257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tempo médio até os sintomas aparecerem</a:t>
            </a:r>
            <a:endParaRPr lang="en-US" sz="1200" dirty="0"/>
          </a:p>
        </p:txBody>
      </p:sp>
      <p:sp>
        <p:nvSpPr>
          <p:cNvPr id="28" name="fact card"/>
          <p:cNvSpPr/>
          <p:nvPr/>
        </p:nvSpPr>
        <p:spPr>
          <a:xfrm>
            <a:off x="8046720" y="4617720"/>
            <a:ext cx="3474720" cy="1234440"/>
          </a:xfrm>
          <a:prstGeom prst="roundRect">
            <a:avLst>
              <a:gd name="adj" fmla="val 10370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7532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Pare e procure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5257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orientação oficial se surgir humor deprimido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Fontes: EMA/PRAC 2025; ANVISA Alerta GGMON 7/2025 (via repost); FDA 2025; Nguyen, JAMA Dermatol 2021; Lee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Por que a evidência parece se contradizer</a:t>
            </a:r>
            <a:endParaRPr lang="en-US" sz="3600" dirty="0"/>
          </a:p>
        </p:txBody>
      </p:sp>
      <p:sp>
        <p:nvSpPr>
          <p:cNvPr id="3" name="evidence column"/>
          <p:cNvSpPr/>
          <p:nvPr/>
        </p:nvSpPr>
        <p:spPr>
          <a:xfrm>
            <a:off x="548640" y="1417320"/>
            <a:ext cx="5394960" cy="3611880"/>
          </a:xfrm>
          <a:prstGeom prst="roundRect">
            <a:avLst>
              <a:gd name="adj" fmla="val 3544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8214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Bases de notificação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Sinal forte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Concentrado em homens de 18 a 45 anos que tratam queda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Sem sinal em homens mais velhos tratados para próstata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Limite: infladas por publicidade; não medem incidência</a:t>
            </a:r>
            <a:endParaRPr lang="en-US" sz="1700" dirty="0"/>
          </a:p>
        </p:txBody>
      </p:sp>
      <p:sp>
        <p:nvSpPr>
          <p:cNvPr id="9" name="evidence column"/>
          <p:cNvSpPr/>
          <p:nvPr/>
        </p:nvSpPr>
        <p:spPr>
          <a:xfrm>
            <a:off x="6217920" y="1417320"/>
            <a:ext cx="5394960" cy="3611880"/>
          </a:xfrm>
          <a:prstGeom prst="roundRect">
            <a:avLst>
              <a:gd name="adj" fmla="val 3544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18214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Grandes coortes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Mais depressão, sem mais suicídio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69748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Suécia, 2,2 milhões de homens: depressão HR 1,61; suicídio HR 1,22 (não significativo)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Meta-análises recentes sem associação significativa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Limite: homens de 50 a 90 anos, não de 30</a:t>
            </a:r>
            <a:endParaRPr lang="en-US" sz="1700" dirty="0"/>
          </a:p>
        </p:txBody>
      </p:sp>
      <p:sp>
        <p:nvSpPr>
          <p:cNvPr id="15" name="verdict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7500"/>
            </a:avLst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Precaução sem alarmismo: com TOC, TDC ou humor frágil, a decisão é conjunta entre dermatologista e psiquiatra, com atenção ao humor nos primeiros 6 meses.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Nguyen 2021; Lee 2025; Gupta 2025; JAMA Netw Open 2022; Fraenza 2026; Eur Urol Open Sci 2023.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Um encaminhamento duplo, em paralelo</a:t>
            </a:r>
            <a:endParaRPr lang="en-US" sz="3600" dirty="0"/>
          </a:p>
        </p:txBody>
      </p:sp>
      <p:sp>
        <p:nvSpPr>
          <p:cNvPr id="3" name="referral card"/>
          <p:cNvSpPr/>
          <p:nvPr/>
        </p:nvSpPr>
        <p:spPr>
          <a:xfrm>
            <a:off x="548640" y="1417320"/>
            <a:ext cx="4023360" cy="36576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434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Dermatologista ou tricologista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Tricoscopia e diagnóstico da queda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TSH, hemograma, ferro e rastreio metabólico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Tratar feridas e escolher o remédio</a:t>
            </a:r>
            <a:endParaRPr lang="en-US" sz="1700" dirty="0"/>
          </a:p>
        </p:txBody>
      </p:sp>
      <p:sp>
        <p:nvSpPr>
          <p:cNvPr id="8" name="referral card"/>
          <p:cNvSpPr/>
          <p:nvPr/>
        </p:nvSpPr>
        <p:spPr>
          <a:xfrm>
            <a:off x="7589520" y="1417320"/>
            <a:ext cx="4023360" cy="36576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7863840" y="16459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350" y="18434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86968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Psiquiatra ou psicólogo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26974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Avaliar TDC, TOC e BFRB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Conduzir HRT, ERP ou TCC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Medicação e monitoramento do humor</a:t>
            </a:r>
            <a:endParaRPr lang="en-US" sz="1700" dirty="0"/>
          </a:p>
        </p:txBody>
      </p:sp>
      <p:sp>
        <p:nvSpPr>
          <p:cNvPr id="13" name="center node"/>
          <p:cNvSpPr/>
          <p:nvPr/>
        </p:nvSpPr>
        <p:spPr>
          <a:xfrm>
            <a:off x="5138928" y="2148840"/>
            <a:ext cx="1920240" cy="19202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230368" y="214884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Decisão conjunta</a:t>
            </a:r>
            <a:endParaRPr lang="en-US" sz="1500" dirty="0"/>
          </a:p>
        </p:txBody>
      </p:sp>
      <p:sp>
        <p:nvSpPr>
          <p:cNvPr id="15" name="link arrow"/>
          <p:cNvSpPr/>
          <p:nvPr/>
        </p:nvSpPr>
        <p:spPr>
          <a:xfrm>
            <a:off x="4663440" y="4251960"/>
            <a:ext cx="2880360" cy="411480"/>
          </a:xfrm>
          <a:prstGeom prst="leftRightArrow">
            <a:avLst/>
          </a:prstGeom>
          <a:solidFill>
            <a:schemeClr val="accent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5257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Sinais de alerta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743200" y="525780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pensamentos de morte · isolamento · ansiedade ou depressão crescentes · sono alterado · mudança de humor ou sexual após finasterida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Fontes: Taghizadeh 2026; Lauron 2023; ASAMI 2024; EMA.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Onde buscar ajuda no Brasil</a:t>
            </a:r>
            <a:endParaRPr lang="en-US" sz="3600" dirty="0"/>
          </a:p>
        </p:txBody>
      </p:sp>
      <p:sp>
        <p:nvSpPr>
          <p:cNvPr id="3" name="help card"/>
          <p:cNvSpPr/>
          <p:nvPr/>
        </p:nvSpPr>
        <p:spPr>
          <a:xfrm>
            <a:off x="548640" y="1463040"/>
            <a:ext cx="3474720" cy="4206240"/>
          </a:xfrm>
          <a:prstGeom prst="roundRect">
            <a:avLst>
              <a:gd name="adj" fmla="val 3684"/>
            </a:avLst>
          </a:prstGeom>
          <a:solidFill>
            <a:schemeClr val="tx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025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80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188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94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CVV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51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Gratuito, 24 horas, todos os dias, com sigilo. Também chat e e-mail.</a:t>
            </a:r>
            <a:endParaRPr lang="en-US" sz="1400" dirty="0"/>
          </a:p>
        </p:txBody>
      </p:sp>
      <p:sp>
        <p:nvSpPr>
          <p:cNvPr id="9" name="help card"/>
          <p:cNvSpPr/>
          <p:nvPr/>
        </p:nvSpPr>
        <p:spPr>
          <a:xfrm>
            <a:off x="4297680" y="1463040"/>
            <a:ext cx="3474720" cy="4206240"/>
          </a:xfrm>
          <a:prstGeom prst="roundRect">
            <a:avLst>
              <a:gd name="adj" fmla="val 3684"/>
            </a:avLst>
          </a:prstGeom>
          <a:solidFill>
            <a:schemeClr val="tx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461772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00253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880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CAPS</a:t>
            </a:r>
            <a:endParaRPr lang="en-US" sz="4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794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Rede SUS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251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Centros de Atenção Psicossocial: acolhimento em saúde mental sem custo.</a:t>
            </a:r>
            <a:endParaRPr lang="en-US" sz="1400" dirty="0"/>
          </a:p>
        </p:txBody>
      </p:sp>
      <p:sp>
        <p:nvSpPr>
          <p:cNvPr id="15" name="help card"/>
          <p:cNvSpPr/>
          <p:nvPr/>
        </p:nvSpPr>
        <p:spPr>
          <a:xfrm>
            <a:off x="8046720" y="1463040"/>
            <a:ext cx="3474720" cy="4206240"/>
          </a:xfrm>
          <a:prstGeom prst="roundRect">
            <a:avLst>
              <a:gd name="adj" fmla="val 3684"/>
            </a:avLst>
          </a:prstGeom>
          <a:solidFill>
            <a:schemeClr val="tx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8366760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00253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2880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190 · 192</a:t>
            </a:r>
            <a:endParaRPr lang="en-US" sz="48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794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Emergência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251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Em risco imediato: pronto-socorro, Polícia Militar ou SAMU.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Se usa finasterida e passou a se sentir deprimido ou a pensar em morte: suspenda e procure o médico.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backgrou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4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1031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 gesto pesa mais que a calvície</a:t>
            </a:r>
            <a:endParaRPr lang="en-US" sz="4800" dirty="0"/>
          </a:p>
        </p:txBody>
      </p:sp>
      <p:sp>
        <p:nvSpPr>
          <p:cNvPr id="5" name="icon circle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4281221"/>
            <a:ext cx="261518" cy="26151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Tratar o ciclo de checagem antes de buscar o remédio ou o transplante "certo"</a:t>
            </a:r>
            <a:endParaRPr lang="en-US" sz="1700" dirty="0"/>
          </a:p>
        </p:txBody>
      </p:sp>
      <p:sp>
        <p:nvSpPr>
          <p:cNvPr id="8" name="icon circle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4967021"/>
            <a:ext cx="261518" cy="26151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4846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Decidir queda e mente juntos: dermatologista e psiquiatra</a:t>
            </a:r>
            <a:endParaRPr lang="en-US" sz="1700" dirty="0"/>
          </a:p>
        </p:txBody>
      </p:sp>
      <p:sp>
        <p:nvSpPr>
          <p:cNvPr id="11" name="icon circle"/>
          <p:cNvSpPr/>
          <p:nvPr/>
        </p:nvSpPr>
        <p:spPr>
          <a:xfrm>
            <a:off x="548640" y="55321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652821"/>
            <a:ext cx="261518" cy="26151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0160" y="5532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 quebra por atrito tende a regredir quando o gesto para</a:t>
            </a:r>
            <a:endParaRPr lang="en-US" sz="17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548640" y="3977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Principais referências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Rück C et al. Body dysmorphic disorder. Nat Rev Dis Primers 2024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Phillips KA, Menard W, Fay C. Compr Psychiatry 2006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Ribeiro RVE. Aesthetic Plast Surg 2017 (TDC em dermatologia)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Trüeb RM et al. Int J Trichology 2025 (tricoteiromania)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Sánchez-Dueñas LE et al. Skin Appendage Disord 2021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Farhat LC et al. Depress Anxiety 2020 (24 ECR)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Grant JE et al. Arch Gen Psychiatry 2009 (N-acetilcisteína)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Crerand CE et al. Psychosomatics 2005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41732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Huang CH et al. JAMA Dermatol 2021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Kong et al. Front Psychiatry 2025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Lauron S et al. JAMA Dermatol 2023 (alopecia areata)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Acta Derm Venereol 2022 (síndrome metabólica)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Nguyen DD et al. JAMA Dermatol 2021 (VigiBase)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JAMA Netw Open 2022 (coorte sueca)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EMA/PRAC 2025; ANVISA Alerta GGMON 7/2025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FDA 2025 (finasterida tópica manipulada)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nte e Cabelo">
  <a:themeElements>
    <a:clrScheme name="Mente e Cabelo">
      <a:dk1>
        <a:srgbClr val="15172B"/>
      </a:dk1>
      <a:lt1>
        <a:srgbClr val="FFFFFF"/>
      </a:lt1>
      <a:dk2>
        <a:srgbClr val="262A4F"/>
      </a:dk2>
      <a:lt2>
        <a:srgbClr val="F2F3F9"/>
      </a:lt2>
      <a:accent1>
        <a:srgbClr val="6C5CE7"/>
      </a:accent1>
      <a:accent2>
        <a:srgbClr val="FF7A59"/>
      </a:accent2>
      <a:accent3>
        <a:srgbClr val="00B8A9"/>
      </a:accent3>
      <a:accent4>
        <a:srgbClr val="FFC75F"/>
      </a:accent4>
      <a:accent5>
        <a:srgbClr val="A29BFE"/>
      </a:accent5>
      <a:accent6>
        <a:srgbClr val="7A80A3"/>
      </a:accent6>
      <a:hlink>
        <a:srgbClr val="6C5CE7"/>
      </a:hlink>
      <a:folHlink>
        <a:srgbClr val="A29BFE"/>
      </a:folHlink>
    </a:clrScheme>
    <a:fontScheme name="Mente e Cabel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Alopecia, TOC e saúde mental em homens jovens</dc:title>
  <dc:subject>PptxGenJS Presentation</dc:subject>
  <dc:creator>Relatório de pesquisa</dc:creator>
  <cp:lastModifiedBy>Relatório de pesquisa</cp:lastModifiedBy>
  <cp:revision>1</cp:revision>
  <dcterms:created xsi:type="dcterms:W3CDTF">2026-10-21T03:13:08Z</dcterms:created>
  <dcterms:modified xsi:type="dcterms:W3CDTF">2026-10-21T03:13:08Z</dcterms:modified>
</cp:coreProperties>
</file>